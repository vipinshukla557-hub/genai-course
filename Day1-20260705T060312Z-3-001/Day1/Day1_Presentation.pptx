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GenAI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Program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1371600" cy="54864"/>
          </a:xfrm>
          <a:prstGeom prst="rect">
            <a:avLst/>
          </a:prstGeom>
          <a:solidFill>
            <a:srgbClr val="C94F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6060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First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API Call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 ·  Functions  ·  API Call  ·  JSON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251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minutes  ·  All live coding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4114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6400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0" y="521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0" y="704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Check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0" y="978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Python, venv, packages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15087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73736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86400" y="16184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486400" y="1801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Functions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486400" y="20756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examples: print to return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54880" y="26060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83464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486400" y="2715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0" y="2898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API Call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486400" y="3172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key, call OpenAI, get response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754880" y="37033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93192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86400" y="3813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486400" y="3995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Parsing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486400" y="42702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format API responses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SETUP PROPERLY?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tutorial code and production code.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BE9E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Code in a browser notebook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version control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API key pasted directly in code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Works on one machine only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Nobody else can run it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3716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E8F5E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0876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98348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VS Code + proper project structure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8348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Git: every change tracked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98348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key in .env, never in code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98348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Virtual environment: reproducible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98348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Anyone can clone and run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 CHECK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script. Fix anything that fails. Then we code.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4813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4813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4813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91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week1_section1_environment.py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926080"/>
            <a:ext cx="365760" cy="365760"/>
          </a:xfrm>
          <a:prstGeom prst="ellipse">
            <a:avLst/>
          </a:prstGeom>
          <a:solidFill>
            <a:srgbClr val="1E5C4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Version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Python 3.10 or higher installed?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27432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0" y="2926080"/>
            <a:ext cx="365760" cy="365760"/>
          </a:xfrm>
          <a:prstGeom prst="ellipse">
            <a:avLst/>
          </a:prstGeom>
          <a:solidFill>
            <a:srgbClr val="1E5C4A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7764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inside your genai_env?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74320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2926080"/>
            <a:ext cx="365760" cy="365760"/>
          </a:xfrm>
          <a:prstGeom prst="ellipse">
            <a:avLst/>
          </a:prstGeom>
          <a:solidFill>
            <a:srgbClr val="1E5C4A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1228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Packages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python-dotenv, tiktoken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all three show ✅, you're ready. If anything shows ❌, we fix it together right now.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FUNCTIONS IN PYTHON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is a reusable block of code you can call by name.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35608"/>
            <a:ext cx="274320" cy="274320"/>
          </a:xfrm>
          <a:prstGeom prst="ellipse">
            <a:avLst/>
          </a:prstGeom>
          <a:solidFill>
            <a:srgbClr val="C94F1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function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3657600" cy="822960"/>
          </a:xfrm>
          <a:prstGeom prst="roundRect">
            <a:avLst>
              <a:gd name="adj" fmla="val 5556"/>
            </a:avLst>
          </a:prstGeom>
          <a:solidFill>
            <a:srgbClr val="1E1E1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0136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say_hello():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print("Hello!")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say_hello()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= define. Parentheses = inputs (none here).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435608"/>
            <a:ext cx="274320" cy="274320"/>
          </a:xfrm>
          <a:prstGeom prst="ellipse">
            <a:avLst/>
          </a:prstGeom>
          <a:solidFill>
            <a:srgbClr val="C94F1E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5780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with input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92040" y="1783080"/>
            <a:ext cx="3657600" cy="822960"/>
          </a:xfrm>
          <a:prstGeom prst="roundRect">
            <a:avLst>
              <a:gd name="adj" fmla="val 5556"/>
            </a:avLst>
          </a:prstGeom>
          <a:solidFill>
            <a:srgbClr val="1E1E1E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80136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greet(name):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print(f"Hello, {name}!")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greet("Saurav")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9204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is a parameter. "Saurav" is the argument.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3264408"/>
            <a:ext cx="274320" cy="274320"/>
          </a:xfrm>
          <a:prstGeom prst="ellipse">
            <a:avLst/>
          </a:prstGeom>
          <a:solidFill>
            <a:srgbClr val="C94F1E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that returns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3611880"/>
            <a:ext cx="3657600" cy="822960"/>
          </a:xfrm>
          <a:prstGeom prst="roundRect">
            <a:avLst>
              <a:gd name="adj" fmla="val 5556"/>
            </a:avLst>
          </a:prstGeom>
          <a:solidFill>
            <a:srgbClr val="1E1E1E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63016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add(a, b):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add(5, 3)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print(total)  # 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sends a value back. print just displays.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15468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3264408"/>
            <a:ext cx="274320" cy="274320"/>
          </a:xfrm>
          <a:prstGeom prst="ellipse">
            <a:avLst/>
          </a:prstGeom>
          <a:solidFill>
            <a:srgbClr val="C94F1E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functions matter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92040" y="3611880"/>
            <a:ext cx="3657600" cy="822960"/>
          </a:xfrm>
          <a:prstGeom prst="roundRect">
            <a:avLst>
              <a:gd name="adj" fmla="val 5556"/>
            </a:avLst>
          </a:prstGeom>
          <a:solidFill>
            <a:srgbClr val="1E1E1E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363016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format_msg(role, text):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{"role": role,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"content": text}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 = format_msg("user", "What is AI?")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9204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the OpenAI API needs!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KEY SECURITY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files: the non-negotiable habit.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BE9E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 pushed code to GitHub. His AWS key was hardcoded. A bot found it within 60 seconds. By morning: $3,200 in crypto-mining charges.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219456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The WRONG Way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697480"/>
            <a:ext cx="3566160" cy="9144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743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app.py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 = "sk-abc123..."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Pushed to GitHub → stolen in 60s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008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is visible to anyone who sees your code.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219456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3776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RIGHT Way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937760" y="2697480"/>
            <a:ext cx="3566160" cy="1463040"/>
          </a:xfrm>
          <a:prstGeom prst="roundRect">
            <a:avLst>
              <a:gd name="adj" fmla="val 3125"/>
            </a:avLst>
          </a:prstGeom>
          <a:solidFill>
            <a:srgbClr val="1E1E1E"/>
          </a:solidFill>
          <a:ln/>
        </p:spPr>
      </p:sp>
      <p:sp>
        <p:nvSpPr>
          <p:cNvPr id="15" name="Text 12"/>
          <p:cNvSpPr/>
          <p:nvPr/>
        </p:nvSpPr>
        <p:spPr>
          <a:xfrm>
            <a:off x="5074920" y="27432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  (NEVER committed to Git)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OPENAI_API_KEY=sk-abc123...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app.py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dotenv import load_dotenv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load_dotenv()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 = os.getenv("OPENAI_API_KEY")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" y="4709160"/>
            <a:ext cx="8229600" cy="320040"/>
          </a:xfrm>
          <a:prstGeom prst="roundRect">
            <a:avLst>
              <a:gd name="adj" fmla="val 14286"/>
            </a:avLst>
          </a:prstGeom>
          <a:solidFill>
            <a:srgbClr val="1E5C4A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rule:  add  .env  on its own line. Git will never see your secrets.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AN API CALL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checklist you follow every single time.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20040" cy="320040"/>
          </a:xfrm>
          <a:prstGeom prst="ellipse">
            <a:avLst/>
          </a:prstGeom>
          <a:solidFill>
            <a:srgbClr val="1E5C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Libraries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openai import OpenAI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20040" cy="320040"/>
          </a:xfrm>
          <a:prstGeom prst="ellipse">
            <a:avLst/>
          </a:prstGeom>
          <a:solidFill>
            <a:srgbClr val="1E5C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Key Securely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1828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load_dotenv()  →  os.getenv()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331720"/>
            <a:ext cx="320040" cy="320040"/>
          </a:xfrm>
          <a:prstGeom prst="ellipse">
            <a:avLst/>
          </a:prstGeom>
          <a:solidFill>
            <a:srgbClr val="1E5C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Client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OpenAI(api_key=...)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320040" cy="320040"/>
          </a:xfrm>
          <a:prstGeom prst="ellipse">
            <a:avLst/>
          </a:prstGeom>
          <a:solidFill>
            <a:srgbClr val="C94F1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Messages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2834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[{role, content}, ...]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320040" cy="320040"/>
          </a:xfrm>
          <a:prstGeom prst="ellipse">
            <a:avLst/>
          </a:prstGeom>
          <a:solidFill>
            <a:srgbClr val="C94F1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337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Call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17520" y="3337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client.chat.completions.create()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320040" cy="320040"/>
          </a:xfrm>
          <a:prstGeom prst="ellipse">
            <a:avLst/>
          </a:prstGeom>
          <a:solidFill>
            <a:srgbClr val="C94F1E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Response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17520" y="3840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response.choices[0].message.content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1325880"/>
            <a:ext cx="2377440" cy="3017520"/>
          </a:xfrm>
          <a:prstGeom prst="roundRect">
            <a:avLst>
              <a:gd name="adj" fmla="val 3077"/>
            </a:avLst>
          </a:prstGeom>
          <a:solidFill>
            <a:srgbClr val="FBE9E1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1417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First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8368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openai installed?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83680" y="2130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.env file exists?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583680" y="2478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API key in .env?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83680" y="28254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venv activated?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83680" y="3172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Internet working?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FIRST API CALL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you will use every single week.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303520" cy="3474720"/>
          </a:xfrm>
          <a:prstGeom prst="roundRect">
            <a:avLst>
              <a:gd name="adj" fmla="val 2105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openai import OpenAI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dotenv import load_dotenv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load_dotenv()  # reads .env file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OpenAI(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api_key=os.getenv("OPENAI_API_KEY")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client.chat.completions.create(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model="gpt-4o-mini",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{"role":"system",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"content":"You are a helpful assistant"},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{"role":"user",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"content":"What is AI in one line?"},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print(response.choices[0].message.content)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0" y="1325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4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Lines 1-3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0" y="1554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SDK + dotenv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0" y="1965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4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Line 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your API key from .env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2606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4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Lines 7-9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0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AI connection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32461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4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Lines 11-18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43600" y="3474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messages list from Day 0!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3977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4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Line 21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94360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text response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709160"/>
            <a:ext cx="8229600" cy="320040"/>
          </a:xfrm>
          <a:prstGeom prst="roundRect">
            <a:avLst>
              <a:gd name="adj" fmla="val 14286"/>
            </a:avLst>
          </a:prstGeom>
          <a:solidFill>
            <a:srgbClr val="1E5C4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messages list uses exactly the format you learned in Day 0: list of dicts with role and content.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THE RESPONSE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back and how to navigate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Roles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05840" cy="411480"/>
          </a:xfrm>
          <a:prstGeom prst="roundRect">
            <a:avLst>
              <a:gd name="adj" fmla="val 8889"/>
            </a:avLst>
          </a:prstGeom>
          <a:solidFill>
            <a:srgbClr val="1E5C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8308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to the AI.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never sees this.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1005840" cy="411480"/>
          </a:xfrm>
          <a:prstGeom prst="roundRect">
            <a:avLst>
              <a:gd name="adj" fmla="val 8889"/>
            </a:avLst>
          </a:prstGeom>
          <a:solidFill>
            <a:srgbClr val="C94F1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8308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human said.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 goes here.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1005840" cy="411480"/>
          </a:xfrm>
          <a:prstGeom prst="roundRect">
            <a:avLst>
              <a:gd name="adj" fmla="val 8889"/>
            </a:avLst>
          </a:prstGeom>
          <a:solidFill>
            <a:srgbClr val="2A2A2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803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8308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AI said back.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conversation history.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325880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Structure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37760" y="1783080"/>
            <a:ext cx="3566160" cy="1554480"/>
          </a:xfrm>
          <a:prstGeom prst="roundRect">
            <a:avLst>
              <a:gd name="adj" fmla="val 2941"/>
            </a:avLst>
          </a:prstGeom>
          <a:solidFill>
            <a:srgbClr val="1E1E1E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1828800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.choices[0].message.content   ← The text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.choices[0].finish_reason     ← "stop"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.usage.prompt_tokens          ← Input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.usage.completion_tokens      ← Output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.usage.total_tokens           ← Total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7673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 You Just Used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3736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AI brain. gpt-4o-mini = fast, cheap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 (list of role/content dicts)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JSON: THE LANGUAGE OF APIs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on earth sends and receives JSON. Learn to read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JSON?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Object Notation. A text format for structured data. It looks exactly like a Python dictionary: curly braces, key:value pairs, lists in square brackets.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32588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functions you will use constantly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1719072"/>
            <a:ext cx="3566160" cy="640080"/>
          </a:xfrm>
          <a:prstGeom prst="roundRect">
            <a:avLst>
              <a:gd name="adj" fmla="val 7143"/>
            </a:avLst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7556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json.dumps(dict, indent=2)  → Pretty print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json.loads(string)          → String to dict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697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Habit:  .get() vs []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3657600" cy="594360"/>
          </a:xfrm>
          <a:prstGeom prst="roundRect">
            <a:avLst>
              <a:gd name="adj" fmla="val 7692"/>
            </a:avLst>
          </a:prstGeom>
          <a:solidFill>
            <a:srgbClr val="FBE9E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127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4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  data["key"]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383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 with KeyError if key is missing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3749040" cy="594360"/>
          </a:xfrm>
          <a:prstGeom prst="roundRect">
            <a:avLst>
              <a:gd name="adj" fmla="val 7692"/>
            </a:avLst>
          </a:prstGeom>
          <a:solidFill>
            <a:srgbClr val="E8F5E9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3127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data.get("key", default)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383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default safely if key is missing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3886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change. Fields go missing. Error responses have different shapes. .get() keeps your app alive.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251960"/>
            <a:ext cx="7772400" cy="320040"/>
          </a:xfrm>
          <a:prstGeom prst="roundRect">
            <a:avLst>
              <a:gd name="adj" fmla="val 11429"/>
            </a:avLst>
          </a:prstGeom>
          <a:solidFill>
            <a:srgbClr val="1E1E1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519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print(json.dumps(response_dict, indent=2))   # ← makes any dict readable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Complete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24128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005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Python 3.10+ and virtual environment</a:t>
            </a:r>
            <a:endParaRPr lang="en-US" sz="12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201168" cy="2011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8680" y="13533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what functions are and how to write them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19072"/>
            <a:ext cx="201168" cy="2011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8680" y="17007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.env and .gitignore: API key is protected</a:t>
            </a:r>
            <a:endParaRPr lang="en-US" sz="12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066544"/>
            <a:ext cx="201168" cy="2011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68680" y="204825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your first real API call to an AI model</a:t>
            </a:r>
            <a:endParaRPr lang="en-US" sz="12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414016"/>
            <a:ext cx="201168" cy="20116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68680" y="23957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the response structure, roles, and parameters</a:t>
            </a:r>
            <a:endParaRPr lang="en-US" sz="12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761488"/>
            <a:ext cx="201168" cy="20116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68680" y="2743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JSON and learned .get() vs []</a:t>
            </a:r>
            <a:endParaRPr lang="en-US" sz="1250" dirty="0"/>
          </a:p>
        </p:txBody>
      </p:sp>
      <p:sp>
        <p:nvSpPr>
          <p:cNvPr id="15" name="Shape 7"/>
          <p:cNvSpPr/>
          <p:nvPr/>
        </p:nvSpPr>
        <p:spPr>
          <a:xfrm>
            <a:off x="457200" y="324612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E8F5E9"/>
          </a:solidFill>
          <a:ln/>
        </p:spPr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337560"/>
            <a:ext cx="320040" cy="32004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05156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 Challenge</a:t>
            </a:r>
            <a:endParaRPr lang="en-US" sz="1500" dirty="0"/>
          </a:p>
        </p:txBody>
      </p:sp>
      <p:sp>
        <p:nvSpPr>
          <p:cNvPr id="18" name="Text 9"/>
          <p:cNvSpPr/>
          <p:nvPr/>
        </p:nvSpPr>
        <p:spPr>
          <a:xfrm>
            <a:off x="640080" y="3657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system message to: "You are a Bollywood movie critic who speaks in dramatic Hindi-English mix."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your code and ask: "Review the movie 3 Idiots"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the AI's personality completely changes with just one line!</a:t>
            </a:r>
            <a:endParaRPr lang="en-US" sz="1050" dirty="0"/>
          </a:p>
        </p:txBody>
      </p:sp>
      <p:sp>
        <p:nvSpPr>
          <p:cNvPr id="19" name="Shape 10"/>
          <p:cNvSpPr/>
          <p:nvPr/>
        </p:nvSpPr>
        <p:spPr>
          <a:xfrm>
            <a:off x="457200" y="452628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2A2A2A"/>
          </a:solidFill>
          <a:ln/>
        </p:spPr>
      </p:sp>
      <p:sp>
        <p:nvSpPr>
          <p:cNvPr id="20" name="Text 11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 How LLMs Actually Work  ·  Tokens  ·  Temperature  ·  Cost Calculation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1: Your First AI API Call</dc:title>
  <dc:subject>PptxGenJS Presentation</dc:subject>
  <dc:creator>GenAIEducate</dc:creator>
  <cp:lastModifiedBy>GenAIEducate</cp:lastModifiedBy>
  <cp:revision>1</cp:revision>
  <dcterms:created xsi:type="dcterms:W3CDTF">2026-06-21T07:09:15Z</dcterms:created>
  <dcterms:modified xsi:type="dcterms:W3CDTF">2026-06-21T07:09:15Z</dcterms:modified>
</cp:coreProperties>
</file>