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5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OF 16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LLMs Actually Work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D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 ·  Transformers  ·  Generation Parameters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10896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0F3D2E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3200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3611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text to next token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310896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0F3D2E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1188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114800" y="3200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= Money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0" y="3611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Counting, costs, limits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310896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0F3D2E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5508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58000" y="3200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0" y="3611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top-p, sampling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GenAI Engineering Program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Journey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822960"/>
          </a:xfrm>
          <a:prstGeom prst="roundRect">
            <a:avLst>
              <a:gd name="adj" fmla="val 11111"/>
            </a:avLst>
          </a:prstGeom>
          <a:solidFill>
            <a:srgbClr val="E8F5E9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234440"/>
            <a:ext cx="548640" cy="548640"/>
          </a:xfrm>
          <a:prstGeom prst="ellipse">
            <a:avLst/>
          </a:prstGeom>
          <a:solidFill>
            <a:srgbClr val="1E5C4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17043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History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15087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→ ML → Deep Learning → Transformers (2 min)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057400"/>
            <a:ext cx="7863840" cy="822960"/>
          </a:xfrm>
          <a:prstGeom prst="roundRect">
            <a:avLst>
              <a:gd name="adj" fmla="val 11111"/>
            </a:avLst>
          </a:prstGeom>
          <a:solidFill>
            <a:srgbClr val="E3F2FD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194560"/>
            <a:ext cx="548640" cy="548640"/>
          </a:xfrm>
          <a:prstGeom prst="ellipse">
            <a:avLst/>
          </a:prstGeom>
          <a:solidFill>
            <a:srgbClr val="1E5C4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213055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(Excel)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24688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your prompt through every stage inside the model: tokenize, embed, attend, predict (45 min)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017520"/>
            <a:ext cx="7863840" cy="822960"/>
          </a:xfrm>
          <a:prstGeom prst="roundRect">
            <a:avLst>
              <a:gd name="adj" fmla="val 11111"/>
            </a:avLst>
          </a:prstGeom>
          <a:solidFill>
            <a:srgbClr val="FBE9E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3154680"/>
            <a:ext cx="548640" cy="548640"/>
          </a:xfrm>
          <a:prstGeom prst="ellipse">
            <a:avLst/>
          </a:prstGeom>
          <a:solidFill>
            <a:srgbClr val="1E5C4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54480" y="309067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34290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+ Temperature + Hallucination: see it in real Python code (30 min)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977640"/>
            <a:ext cx="7863840" cy="822960"/>
          </a:xfrm>
          <a:prstGeom prst="roundRect">
            <a:avLst>
              <a:gd name="adj" fmla="val 11111"/>
            </a:avLst>
          </a:prstGeom>
          <a:solidFill>
            <a:srgbClr val="F3E5F5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rgbClr val="1E5C4A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54480" y="405079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Q&amp;A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54480" y="43891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questions that come up in every AI engineer interview (10 min)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2-Minute History of AI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E8F5E9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2344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1950s-80s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600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AI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210312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wrote every rule.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'If this, do that.'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Brittle. Could not handle surprises.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109728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E3F2FD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0" y="12344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1990s-2000s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0" y="1600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43200" y="210312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10,000 examples, find patterns.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still picked which features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look at.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FBE9E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92040" y="12344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600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92040" y="210312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learn their OWN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features. Images, speech, translation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breakthrough.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03720" y="109728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F3E5F5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040880" y="12344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→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040880" y="1600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40880" y="210312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'Attention Is All You Need' paper.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architecture to rule them all.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GPT, Claude, Gemini, Llama.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860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43484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5836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GPT, Claude, Gemini, Llama: ALL built on Transformers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Idea That Explains Everything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Next-Token Prediction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05840" cy="640080"/>
          </a:xfrm>
          <a:prstGeom prst="roundRect">
            <a:avLst>
              <a:gd name="adj" fmla="val 14286"/>
            </a:avLst>
          </a:prstGeom>
          <a:solidFill>
            <a:srgbClr val="1E5C4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00200" y="14173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828800" y="1371600"/>
            <a:ext cx="1005840" cy="640080"/>
          </a:xfrm>
          <a:prstGeom prst="roundRect">
            <a:avLst>
              <a:gd name="adj" fmla="val 14286"/>
            </a:avLst>
          </a:prstGeom>
          <a:solidFill>
            <a:srgbClr val="1E5C4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0" y="13716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788920" y="14173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017520" y="1371600"/>
            <a:ext cx="1005840" cy="640080"/>
          </a:xfrm>
          <a:prstGeom prst="roundRect">
            <a:avLst>
              <a:gd name="adj" fmla="val 14286"/>
            </a:avLst>
          </a:prstGeom>
          <a:solidFill>
            <a:srgbClr val="1E5C4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17520" y="13716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977640" y="14173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06240" y="1371600"/>
            <a:ext cx="1005840" cy="640080"/>
          </a:xfrm>
          <a:prstGeom prst="roundRect">
            <a:avLst>
              <a:gd name="adj" fmla="val 14286"/>
            </a:avLst>
          </a:prstGeom>
          <a:solidFill>
            <a:srgbClr val="1E5C4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06240" y="13716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66360" y="14173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94960" y="1371600"/>
            <a:ext cx="1005840" cy="640080"/>
          </a:xfrm>
          <a:prstGeom prst="roundRect">
            <a:avLst>
              <a:gd name="adj" fmla="val 14286"/>
            </a:avLst>
          </a:prstGeom>
          <a:solidFill>
            <a:srgbClr val="1E5C4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94960" y="13716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55080" y="14173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583680" y="1371600"/>
            <a:ext cx="1005840" cy="640080"/>
          </a:xfrm>
          <a:prstGeom prst="roundRect">
            <a:avLst>
              <a:gd name="adj" fmla="val 14286"/>
            </a:avLst>
          </a:prstGeom>
          <a:solidFill>
            <a:srgbClr val="C94F1E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83680" y="13716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" y="2286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predicts: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2743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828800" y="2788920"/>
            <a:ext cx="3657600" cy="274320"/>
          </a:xfrm>
          <a:prstGeom prst="roundRect">
            <a:avLst>
              <a:gd name="adj" fmla="val 16667"/>
            </a:avLst>
          </a:prstGeom>
          <a:solidFill>
            <a:srgbClr val="1E5C4A"/>
          </a:solidFill>
          <a:ln/>
        </p:spPr>
      </p:sp>
      <p:sp>
        <p:nvSpPr>
          <p:cNvPr id="24" name="Text 22"/>
          <p:cNvSpPr/>
          <p:nvPr/>
        </p:nvSpPr>
        <p:spPr>
          <a:xfrm>
            <a:off x="5577840" y="2743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32004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828800" y="3246120"/>
            <a:ext cx="2606040" cy="274320"/>
          </a:xfrm>
          <a:prstGeom prst="roundRect">
            <a:avLst>
              <a:gd name="adj" fmla="val 16667"/>
            </a:avLst>
          </a:prstGeom>
          <a:solidFill>
            <a:srgbClr val="3D8B6E"/>
          </a:solidFill>
          <a:ln/>
        </p:spPr>
      </p:sp>
      <p:sp>
        <p:nvSpPr>
          <p:cNvPr id="27" name="Text 25"/>
          <p:cNvSpPr/>
          <p:nvPr/>
        </p:nvSpPr>
        <p:spPr>
          <a:xfrm>
            <a:off x="4526280" y="32004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3657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828800" y="3703320"/>
            <a:ext cx="1554480" cy="274320"/>
          </a:xfrm>
          <a:prstGeom prst="roundRect">
            <a:avLst>
              <a:gd name="adj" fmla="val 16667"/>
            </a:avLst>
          </a:prstGeom>
          <a:solidFill>
            <a:srgbClr val="3D8B6E"/>
          </a:solidFill>
          <a:ln/>
        </p:spPr>
      </p:sp>
      <p:sp>
        <p:nvSpPr>
          <p:cNvPr id="30" name="Text 28"/>
          <p:cNvSpPr/>
          <p:nvPr/>
        </p:nvSpPr>
        <p:spPr>
          <a:xfrm>
            <a:off x="3474720" y="3657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4114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828800" y="416052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3D8B6E"/>
          </a:solidFill>
          <a:ln/>
        </p:spPr>
      </p:sp>
      <p:sp>
        <p:nvSpPr>
          <p:cNvPr id="33" name="Text 31"/>
          <p:cNvSpPr/>
          <p:nvPr/>
        </p:nvSpPr>
        <p:spPr>
          <a:xfrm>
            <a:off x="2468880" y="4114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" y="4389120"/>
            <a:ext cx="7863840" cy="548640"/>
          </a:xfrm>
          <a:prstGeom prst="roundRect">
            <a:avLst>
              <a:gd name="adj" fmla="val 16667"/>
            </a:avLst>
          </a:prstGeom>
          <a:solidFill>
            <a:srgbClr val="FFF8F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22960" y="43891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does not 'understand' language. It predicts: given everything before, what word comes next? One token at a time, thousands of times per response.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5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See Inside the Machine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D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follow one prompt through every stage of the transformer.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371600" y="256032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0F3D2E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0" y="25603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"Pune has the best biryani"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Tokenize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17320" y="38862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00200" y="3840480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Embed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68880" y="38862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51760" y="3840480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Position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20440" y="38862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03320" y="3840480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Q, K, V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38862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3840480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Attend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23560" y="38862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06440" y="3840480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Process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75120" y="38862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0" y="3840480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Logits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26680" y="38862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909560" y="3840480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 Pick a word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Open: W2_Transformer_Pipeline.xlsx, Sheet 1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LLMs Cannot Do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BE9E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predict plausible text, not true text.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most probable next word is wrong,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still says it with full confidence.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do not 'know' anything. They pattern-match.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37560" y="109728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E3F2FD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520440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520440" y="18288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 call starts completely fresh.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memory of previous conversations.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history? That is YOUR code sending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messages again every time.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09728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E8F5E9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Cutoff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18288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has a date. Anything after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that, the model does not know.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about yesterday's news? It will guess.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RAG exists (Month 2).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480560"/>
            <a:ext cx="7863840" cy="457200"/>
          </a:xfrm>
          <a:prstGeom prst="roundRect">
            <a:avLst>
              <a:gd name="adj" fmla="val 20000"/>
            </a:avLst>
          </a:prstGeom>
          <a:solidFill>
            <a:srgbClr val="FFF8F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44805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test hallucination live in the coding section. You will catch the AI confidently making up facts.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5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Coding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D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sections, 30 minutes, everything connects to the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680960" cy="1005840"/>
          </a:xfrm>
          <a:prstGeom prst="roundRect">
            <a:avLst>
              <a:gd name="adj" fmla="val 9091"/>
            </a:avLst>
          </a:prstGeom>
          <a:solidFill>
            <a:srgbClr val="0F3D2E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783080"/>
            <a:ext cx="548640" cy="548640"/>
          </a:xfrm>
          <a:prstGeom prst="ellipse">
            <a:avLst/>
          </a:prstGeom>
          <a:solidFill>
            <a:srgbClr val="C94F1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1645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9659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tiktoken to split text into tokens.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D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why 'biryani' = 2 tokens.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D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English vs Hindi token counts.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0" y="1645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 ②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697480"/>
            <a:ext cx="7680960" cy="1005840"/>
          </a:xfrm>
          <a:prstGeom prst="roundRect">
            <a:avLst>
              <a:gd name="adj" fmla="val 9091"/>
            </a:avLst>
          </a:prstGeom>
          <a:solidFill>
            <a:srgbClr val="0F3D2E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2926080"/>
            <a:ext cx="548640" cy="548640"/>
          </a:xfrm>
          <a:prstGeom prst="ellipse">
            <a:avLst/>
          </a:prstGeom>
          <a:solidFill>
            <a:srgbClr val="C94F1E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4592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45920" y="31089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 at temp 0, 0.7, and 1.5.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D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deterministic vs creative output.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D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emails with temp=0.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0" y="2788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 ⑧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840480"/>
            <a:ext cx="7680960" cy="1005840"/>
          </a:xfrm>
          <a:prstGeom prst="roundRect">
            <a:avLst>
              <a:gd name="adj" fmla="val 9091"/>
            </a:avLst>
          </a:prstGeom>
          <a:solidFill>
            <a:srgbClr val="0F3D2E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" y="4069080"/>
            <a:ext cx="548640" cy="548640"/>
          </a:xfrm>
          <a:prstGeom prst="ellipse">
            <a:avLst/>
          </a:prstGeom>
          <a:solidFill>
            <a:srgbClr val="C94F1E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45920" y="3931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45920" y="42519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about a fake earthquake in Pune.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D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about a fake research paper.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D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to reduce it with system prompts.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3931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min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4343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Limitation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these out loud, not just in your head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E8F5E9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32588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What is next-token prediction? Explain it simply.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24028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What is hallucination? Why does it happen?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How do you reduce it?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E8F5E9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315468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What is temperature? When would you set it to 0?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When to 0.9?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02336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406908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What are parameters in a model? What does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'70 billion parameters' mean?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30-second answer beats a rambling 2-minute one.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2: How LLMs Work</dc:title>
  <dc:subject>PptxGenJS Presentation</dc:subject>
  <dc:creator>GenAIEducate</dc:creator>
  <cp:lastModifiedBy>GenAIEducate</cp:lastModifiedBy>
  <cp:revision>1</cp:revision>
  <dcterms:created xsi:type="dcterms:W3CDTF">2026-06-30T09:29:06Z</dcterms:created>
  <dcterms:modified xsi:type="dcterms:W3CDTF">2026-06-30T09:29:06Z</dcterms:modified>
</cp:coreProperties>
</file>